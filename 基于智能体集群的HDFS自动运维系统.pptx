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0" y="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06.06.2026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向大家介绍我的项目——基于智能体集群的HDFS自动运维系统。这个项目旨在利用AI多智能体技术，替代传统的人工运维模式，实现对HDFS系统日志异常的自动检测、诊断、知识检索和闭环运维管理。我们融合了AIOps理念、LangGraph框架、MLP神经网络以及ChatOps协同模式，致力于将运维工作从被动的“人工巡检”升级为主动的“AI诊断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让我们明确这个项目的定位。简单来说，我们就是要用AI多智能体来替代传统的人工运维工作，实现对HDFS日志异常的全流程自动化管理。这带来的核心价值是巨大的，它将运维模式从过去被动、滞后的“人工巡检”，转变为现在主动、实时的“AI诊断”。为了实现这一目标，我们设定了三大核心任务：通过MLP神经网络进行智能异常检测；构建基于LangGraph的多智能体专家系统；以及打造支持人工介入的多端协同ChatOps平台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我们为什么要做这个项目呢？因为传统的HDFS运维面临着诸多痛点。首先，日志量巨大，人工分析几乎不可能；其次，传统的规则引擎误报率高，难以应对复杂情况；再者，运维知识难以沉淀和共享；最后，响应总是滞后的。针对这些问题，我们的方案进行了全面革新：用MLP神经网络替代规则引擎，用RAG技术替代人工翻文档，用多智能体协作替代单一脚本，用实时监控替代人工巡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系统的整体架构图，它清晰地展示了系统的分层设计。最上层是接入层，支持通过微信、Web前端和API进行交互。中间是核心的智能体层，基于LangGraph构建，由一个Supervisor智能体负责意图识别和任务分发，它会调用多个专业的子Agent来完成具体任务。最底层是数据层，集成了ClickHouse、Redis、Kafka等多种数据存储和处理组件，为上层提供数据支持。整个架构层次分明，职责清晰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智能体层内部，我们设计了一个高效的协作机制。由一个Supervisor作为总调度，它会根据任务类型，智能地分发给五个不同功能的子Agent。例如，MonitorAgent专门负责快速查询，实现了零LLM延迟；而OpsAgent则处理高危操作，并设有二次确认机制。此外，我们还设计了一套强大的自愈机制，当某个Agent执行失败时，系统会自动进行重试、补充数据，甚至降级处理，确保了整个系统的稳定性和鲁棒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我们的第一个技术亮点：混合模型调度策略。我们的核心思想是“好钢用在刀刃上”，根据任务的复杂度动态分配最合适的模型。对于简单的计算或闲聊，我们使用本地的Ollama模型，实现零网络延迟；对于实时监控这类对速度要求极高的任务，我们直接使用纯Python脚本，绕过LLM，达到毫秒级响应；而对于需要深度推理的根因诊断，则调用能力更强的云端大模型。这种灵活的调度机制，兼顾了效率与性能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亮点是我们的RAG检索增强生成技术。大模型虽然强大，但它并不天生了解HDFS的特定错误码。我们通过RAG技术，将HDFS的官方文档、故障排除指南等专业知识向量化并存储在ChromaDB中。当Agent需要诊断问题时，可以实时检索这些知识，从而给出更精准、更专业的回答。我们还设计了去重机制和降级策略，确保了知识库的高效和可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亮点是我们构建的实时监控流水线。这个流水线由四个协同工作的进程组成，从日志切分、文件监听，到MLP模型的实时预测，再到Redis的状态同步，实现了端到端的实时数据流处理。查询时，系统会优先从Redis获取热数据，保证毫秒级响应，同时以ClickHouse作为冷数据兜底。整个监控服务可以通过Agent实现一键启停，非常便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四个亮点是我们实现了离线和在线双模式的异常检测。在线模式用于实时监控，而离线模式则可以批量分析历史数据，用于模型训练和回溯分析。我们的核心检测模型是一个多层感知机（MLP），结构为29个输入节点，经过128和32个隐藏节点，最终输出1个二分类结果。针对数据不平衡问题，我们采用了带权重的损失函数。同时，我们设计了多级数据降级策略，确保在各种情况下都能获取到可用的数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个技术亮点，也是我们非常重视的一点，就是安全运维机制，即“人机协作”（Human-in-the-loop）。我们认为，对于清理数据、重启服务这类高危操作，必须由人来做最终决定。因此，我们设计了二次确认机制。当Agent收到高危请求时，会先挂起任务，并通过微信向用户发送确认请求，只有在用户明确回复“确认”后，任务才会继续执行。这确保了系统操作的安全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展示了我们项目所使用的完整技术栈。从前端的Vue.js，到后端的FastAPI，再到核心的AI框架LangChain和LangGraph，以及各类数据库、消息队列和机器学习库。我们采用了业界主流且先进的技术，确保了系统的先进性和稳定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进入功能演示部分。首先是我们的Dashboard大屏。它提供了全局视角，左侧是核心的异常统计卡片，实时展示总Block数、异常数和集群健康率。右侧是事件分布图，可以直观地看到各类事件的发生频次。下方是实时异常列表，让运维人员可以快速定位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的AI对话诊断功能。用户可以用自然语言提问，比如“帮我诊断一下某个block为什么失败”。Agent会结合实时数据和RAG知识库，流式地返回检测结果、根因分析和修复建议。如大家所见，当涉及到重启服务这类高危操作时，系统会弹出二次确认框，确保操作的安全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我们来看一下实时监控的效果。左侧是实时滚动的日志流，右侧是我们的MLP模型对每条日志的实时预测结果。一旦检测到异常，结果会立即同步到Redis中，供Dashboard和其他Agent查询。整个过程实现了真正的毫秒级实时监控和响应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总结一下，我们的项目主要有六大创新点。包括完整的多智能体协作链、灵活的混合模型调度策略、实现零延迟监控的纯Python Agent、强大的自动纠错重试机制、基于RAG的知识增强能力，以及“哑管道强端点”的稳健架构设计。这些创新共同构成了我们系统的核心竞争力。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展望未来，我们的系统还有很大的扩展空间。我们计划接入更多的日志源，如YARN、HBase等，实现对整个Hadoop生态的监控。同时，引入ReAct推理链来增强Agent的决策能力，并完善告警通知机制。在模型方面，我们将探索在线增量学习，让模型能够持续进化。最后，实现集群化部署，以支持更高的可用性和扩展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最后，我要衷心感谢我的指导老师、课程平台以及所有提供支持的开源社区。我的分享到此结束，感谢大家的聆听，欢迎提问。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svg"/><Relationship Id="rId18" Type="http://schemas.openxmlformats.org/officeDocument/2006/relationships/image" Target="../media/image35.png"/><Relationship Id="rId26" Type="http://schemas.openxmlformats.org/officeDocument/2006/relationships/image" Target="../media/image43.png"/><Relationship Id="rId3" Type="http://schemas.openxmlformats.org/officeDocument/2006/relationships/image" Target="../media/image2.jpeg"/><Relationship Id="rId21" Type="http://schemas.openxmlformats.org/officeDocument/2006/relationships/image" Target="../media/image38.svg"/><Relationship Id="rId7" Type="http://schemas.openxmlformats.org/officeDocument/2006/relationships/image" Target="../media/image24.svg"/><Relationship Id="rId12" Type="http://schemas.openxmlformats.org/officeDocument/2006/relationships/image" Target="../media/image29.png"/><Relationship Id="rId17" Type="http://schemas.openxmlformats.org/officeDocument/2006/relationships/image" Target="../media/image34.svg"/><Relationship Id="rId25" Type="http://schemas.openxmlformats.org/officeDocument/2006/relationships/image" Target="../media/image42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29" Type="http://schemas.openxmlformats.org/officeDocument/2006/relationships/image" Target="../media/image4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11" Type="http://schemas.openxmlformats.org/officeDocument/2006/relationships/image" Target="../media/image28.svg"/><Relationship Id="rId24" Type="http://schemas.openxmlformats.org/officeDocument/2006/relationships/image" Target="../media/image41.png"/><Relationship Id="rId5" Type="http://schemas.openxmlformats.org/officeDocument/2006/relationships/image" Target="../media/image22.svg"/><Relationship Id="rId15" Type="http://schemas.openxmlformats.org/officeDocument/2006/relationships/image" Target="../media/image32.svg"/><Relationship Id="rId23" Type="http://schemas.openxmlformats.org/officeDocument/2006/relationships/image" Target="../media/image40.svg"/><Relationship Id="rId28" Type="http://schemas.openxmlformats.org/officeDocument/2006/relationships/image" Target="../media/image45.png"/><Relationship Id="rId10" Type="http://schemas.openxmlformats.org/officeDocument/2006/relationships/image" Target="../media/image27.png"/><Relationship Id="rId19" Type="http://schemas.openxmlformats.org/officeDocument/2006/relationships/image" Target="../media/image36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Relationship Id="rId14" Type="http://schemas.openxmlformats.org/officeDocument/2006/relationships/image" Target="../media/image31.png"/><Relationship Id="rId22" Type="http://schemas.openxmlformats.org/officeDocument/2006/relationships/image" Target="../media/image39.png"/><Relationship Id="rId27" Type="http://schemas.openxmlformats.org/officeDocument/2006/relationships/image" Target="../media/image4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2.svg"/><Relationship Id="rId3" Type="http://schemas.openxmlformats.org/officeDocument/2006/relationships/image" Target="../media/image2.jpeg"/><Relationship Id="rId7" Type="http://schemas.openxmlformats.org/officeDocument/2006/relationships/image" Target="../media/image48.sv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11" Type="http://schemas.openxmlformats.org/officeDocument/2006/relationships/image" Target="../media/image40.svg"/><Relationship Id="rId5" Type="http://schemas.openxmlformats.org/officeDocument/2006/relationships/image" Target="../media/image44.svg"/><Relationship Id="rId10" Type="http://schemas.openxmlformats.org/officeDocument/2006/relationships/image" Target="../media/image39.png"/><Relationship Id="rId4" Type="http://schemas.openxmlformats.org/officeDocument/2006/relationships/image" Target="../media/image43.png"/><Relationship Id="rId9" Type="http://schemas.openxmlformats.org/officeDocument/2006/relationships/image" Target="../media/image5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svg"/><Relationship Id="rId18" Type="http://schemas.openxmlformats.org/officeDocument/2006/relationships/image" Target="../media/image65.png"/><Relationship Id="rId3" Type="http://schemas.openxmlformats.org/officeDocument/2006/relationships/image" Target="../media/image2.jpeg"/><Relationship Id="rId7" Type="http://schemas.openxmlformats.org/officeDocument/2006/relationships/image" Target="../media/image54.svg"/><Relationship Id="rId12" Type="http://schemas.openxmlformats.org/officeDocument/2006/relationships/image" Target="../media/image59.png"/><Relationship Id="rId17" Type="http://schemas.openxmlformats.org/officeDocument/2006/relationships/image" Target="../media/image64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11" Type="http://schemas.openxmlformats.org/officeDocument/2006/relationships/image" Target="../media/image58.svg"/><Relationship Id="rId5" Type="http://schemas.openxmlformats.org/officeDocument/2006/relationships/image" Target="../media/image16.svg"/><Relationship Id="rId15" Type="http://schemas.openxmlformats.org/officeDocument/2006/relationships/image" Target="../media/image62.svg"/><Relationship Id="rId10" Type="http://schemas.openxmlformats.org/officeDocument/2006/relationships/image" Target="../media/image57.png"/><Relationship Id="rId19" Type="http://schemas.openxmlformats.org/officeDocument/2006/relationships/image" Target="../media/image66.svg"/><Relationship Id="rId4" Type="http://schemas.openxmlformats.org/officeDocument/2006/relationships/image" Target="../media/image15.png"/><Relationship Id="rId9" Type="http://schemas.openxmlformats.org/officeDocument/2006/relationships/image" Target="../media/image56.svg"/><Relationship Id="rId14" Type="http://schemas.openxmlformats.org/officeDocument/2006/relationships/image" Target="../media/image6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svg"/><Relationship Id="rId3" Type="http://schemas.openxmlformats.org/officeDocument/2006/relationships/image" Target="../media/image2.jpeg"/><Relationship Id="rId7" Type="http://schemas.openxmlformats.org/officeDocument/2006/relationships/image" Target="../media/image70.svg"/><Relationship Id="rId12" Type="http://schemas.openxmlformats.org/officeDocument/2006/relationships/image" Target="../media/image7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5" Type="http://schemas.openxmlformats.org/officeDocument/2006/relationships/image" Target="../media/image7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Relationship Id="rId14" Type="http://schemas.openxmlformats.org/officeDocument/2006/relationships/image" Target="../media/image7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svg"/><Relationship Id="rId3" Type="http://schemas.openxmlformats.org/officeDocument/2006/relationships/image" Target="../media/image2.jpeg"/><Relationship Id="rId7" Type="http://schemas.openxmlformats.org/officeDocument/2006/relationships/image" Target="../media/image82.svg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1.png"/><Relationship Id="rId11" Type="http://schemas.openxmlformats.org/officeDocument/2006/relationships/image" Target="../media/image86.svg"/><Relationship Id="rId5" Type="http://schemas.openxmlformats.org/officeDocument/2006/relationships/image" Target="../media/image80.svg"/><Relationship Id="rId10" Type="http://schemas.openxmlformats.org/officeDocument/2006/relationships/image" Target="../media/image85.png"/><Relationship Id="rId4" Type="http://schemas.openxmlformats.org/officeDocument/2006/relationships/image" Target="../media/image79.png"/><Relationship Id="rId9" Type="http://schemas.openxmlformats.org/officeDocument/2006/relationships/image" Target="../media/image8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3" Type="http://schemas.openxmlformats.org/officeDocument/2006/relationships/image" Target="../media/image2.jpe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9.jpe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jpeg"/><Relationship Id="rId3" Type="http://schemas.openxmlformats.org/officeDocument/2006/relationships/image" Target="../media/image2.jpeg"/><Relationship Id="rId7" Type="http://schemas.openxmlformats.org/officeDocument/2006/relationships/image" Target="../media/image9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4.jpeg"/><Relationship Id="rId5" Type="http://schemas.openxmlformats.org/officeDocument/2006/relationships/image" Target="../media/image93.jpeg"/><Relationship Id="rId10" Type="http://schemas.openxmlformats.org/officeDocument/2006/relationships/image" Target="../media/image98.svg"/><Relationship Id="rId4" Type="http://schemas.openxmlformats.org/officeDocument/2006/relationships/image" Target="../media/image92.jpeg"/><Relationship Id="rId9" Type="http://schemas.openxmlformats.org/officeDocument/2006/relationships/image" Target="../media/image9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2.jpe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5" Type="http://schemas.openxmlformats.org/officeDocument/2006/relationships/image" Target="../media/image101.svg"/><Relationship Id="rId4" Type="http://schemas.openxmlformats.org/officeDocument/2006/relationships/image" Target="../media/image100.png"/><Relationship Id="rId9" Type="http://schemas.openxmlformats.org/officeDocument/2006/relationships/image" Target="../media/image10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5.svg"/><Relationship Id="rId4" Type="http://schemas.openxmlformats.org/officeDocument/2006/relationships/image" Target="../media/image10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113.svg"/><Relationship Id="rId3" Type="http://schemas.openxmlformats.org/officeDocument/2006/relationships/image" Target="../media/image2.jpeg"/><Relationship Id="rId7" Type="http://schemas.openxmlformats.org/officeDocument/2006/relationships/image" Target="../media/image72.svg"/><Relationship Id="rId12" Type="http://schemas.openxmlformats.org/officeDocument/2006/relationships/image" Target="../media/image1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png"/><Relationship Id="rId11" Type="http://schemas.openxmlformats.org/officeDocument/2006/relationships/image" Target="../media/image111.svg"/><Relationship Id="rId5" Type="http://schemas.openxmlformats.org/officeDocument/2006/relationships/image" Target="../media/image107.svg"/><Relationship Id="rId10" Type="http://schemas.openxmlformats.org/officeDocument/2006/relationships/image" Target="../media/image110.png"/><Relationship Id="rId4" Type="http://schemas.openxmlformats.org/officeDocument/2006/relationships/image" Target="../media/image106.png"/><Relationship Id="rId9" Type="http://schemas.openxmlformats.org/officeDocument/2006/relationships/image" Target="../media/image10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jpeg"/><Relationship Id="rId7" Type="http://schemas.openxmlformats.org/officeDocument/2006/relationships/image" Target="../media/image1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5" Type="http://schemas.openxmlformats.org/officeDocument/2006/relationships/image" Target="../media/image116.svg"/><Relationship Id="rId4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1905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基于智能体集群的HDFS自动运维系统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3810000"/>
            <a:ext cx="1041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20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AIOps 理念驱动 · LangGraph 智能编排 · MLP 异常诊断 · ChatOps 协同闭环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778500"/>
            <a:ext cx="12192000" cy="1079500"/>
          </a:xfrm>
          <a:prstGeom prst="roundRect">
            <a:avLst>
              <a:gd name="adj" fmla="val 0"/>
            </a:avLst>
          </a:prstGeom>
          <a:solidFill>
            <a:srgbClr val="000000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5994400"/>
            <a:ext cx="1041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汇报人：梁文伟   |   课题方向：智能系统设计与应用综合实践   |   日期：2026年6月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01 项目概述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76200" cy="11430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1778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用AI多智能体替代传统人工运维，实现HDFS日志异常的自动检测、诊断、知识检索和运维管理，重构大数据平台的智能化运维体系。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3020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4925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651000" y="3429000"/>
            <a:ext cx="406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从“人工巡检”到“AI主动诊断”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彻底改变被动响应、滞后处理的传统模式，通过AI实时感知系统状态，将故障消灭在萌芽阶段，大幅提升运维效率与系统稳定性。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223000" y="3302000"/>
            <a:ext cx="5207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3492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112000" y="3429000"/>
            <a:ext cx="406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全流程自动化闭环管理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打通“日志采集-异常检测-根因分析-决策执行”全链路，减少人工干预成本，实现运维知识的沉淀与复用，构建自进化的智能运维生态。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762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5270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5232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01. 智能异常检测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952513" y="5708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952500" y="5842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基于PyTorch MLP神经网络模型，结合ClickHouse高性能特征矩阵，实现日志异常的毫秒级精准识别。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3815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52705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5016500" y="5232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02. 多智能体专家系统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14323">
            <a:off x="4572013" y="5708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4572000" y="5842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采用LangGraph Supervisor-Router架构，调度多智能体协作，完成复杂故障的深度诊断与解决方案生成。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001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91500" y="5270500"/>
            <a:ext cx="304800" cy="3048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636000" y="5232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03. 多端协同与ChatOps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14323">
            <a:off x="8191513" y="5708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8191500" y="5842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集成微信ClawBot与Web前端，支持人工介入与自然语言交互，构建人机协同的高效运维响应机制。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 背景与痛点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5389889">
            <a:off x="3937000" y="3930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762000" y="1651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▍ HDFS运维现状痛点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540000"/>
            <a:ext cx="2476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27305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692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日志海量繁杂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20834">
            <a:off x="952519" y="3295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952500" y="3429000"/>
            <a:ext cx="2095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每个Block产生E1-E29共29类事件，数据量极大，人工分析排查效率极低。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429000" y="2540000"/>
            <a:ext cx="2476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19500" y="2730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064000" y="2692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规则引擎误报高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20834">
            <a:off x="3619519" y="3295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3619500" y="3429000"/>
            <a:ext cx="2095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传统静态阈值规则僵化，无法识别复杂异常模式，导致大量无效告警干扰。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445000"/>
            <a:ext cx="2476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46355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597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知识沉淀困难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20834">
            <a:off x="952519" y="5200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952500" y="5334000"/>
            <a:ext cx="2095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错误码含义分散，需翻阅海量文档，经验难以标准化、系统化地沉淀复用。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3429000" y="4445000"/>
            <a:ext cx="2476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19500" y="4635500"/>
            <a:ext cx="355600" cy="355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4064000" y="4597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问题响应滞后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-20834">
            <a:off x="3619519" y="5200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3619500" y="5334000"/>
            <a:ext cx="2095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依赖人工定期巡检，无法实现7×24小时实时监控，故障发现和处置存在时差。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77000" y="1651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▍ 技术方案革新对比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477000" y="2540000"/>
            <a:ext cx="49530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477000" y="2540000"/>
            <a:ext cx="508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6667500" y="2641600"/>
            <a:ext cx="45720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C8C8C8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传统规则引擎 ➔</a:t>
            </a: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MLP神经网络异常检测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通过深度学习模型自动挖掘数据特征，精准识别复杂、非线性的异常行为模式。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477000" y="3619500"/>
            <a:ext cx="49530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477000" y="3619500"/>
            <a:ext cx="508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6667500" y="3721100"/>
            <a:ext cx="45720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C8C8C8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人工翻阅文档 ➔</a:t>
            </a: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RAG检索增强生成知识库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构建结构化运维知识库，结合大模型实现错误码、问题场景的即时精准问答。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477000" y="4699000"/>
            <a:ext cx="49530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12700" cap="flat" cmpd="sng">
            <a:solidFill>
              <a:srgbClr val="0066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6477000" y="4699000"/>
            <a:ext cx="508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6667500" y="4800600"/>
            <a:ext cx="45720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C8C8C8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人工巡检/单一脚本 ➔</a:t>
            </a: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多智能体协作+实时监控管道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智能体分工协作处理告警与恢复，建立全链路实时监控管道，实现故障自动降级与自愈。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03 系统整体架构图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651000"/>
            <a:ext cx="3175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3000" y="17780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778000" y="17145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微信终端 (OpenClaw)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基于微信生态的消息与指令接入入口，支持多用户并发交互</a:t>
            </a:r>
          </a:p>
        </p:txBody>
      </p:sp>
      <p:cxnSp>
        <p:nvCxnSpPr>
          <p:cNvPr id="8" name="Connector 8"/>
          <p:cNvCxnSpPr/>
          <p:nvPr/>
        </p:nvCxnSpPr>
        <p:spPr>
          <a:xfrm rot="-342635">
            <a:off x="4318317" y="2089150"/>
            <a:ext cx="12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4572000" y="1651000"/>
            <a:ext cx="3175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00" y="1778000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334000" y="17145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Web前端 (Vue3)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响应式管理后台与用户交互界面，提供可视化操作能力</a:t>
            </a:r>
          </a:p>
        </p:txBody>
      </p:sp>
      <p:cxnSp>
        <p:nvCxnSpPr>
          <p:cNvPr id="12" name="Connector 12"/>
          <p:cNvCxnSpPr/>
          <p:nvPr/>
        </p:nvCxnSpPr>
        <p:spPr>
          <a:xfrm rot="-342635">
            <a:off x="7874317" y="2089150"/>
            <a:ext cx="12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128000" y="1651000"/>
            <a:ext cx="3175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17780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17145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开放API (FastAPI)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高性能异步接口服务，支持第三方系统无缝集成与扩展</a:t>
            </a:r>
          </a:p>
        </p:txBody>
      </p:sp>
      <p:cxnSp>
        <p:nvCxnSpPr>
          <p:cNvPr id="16" name="Connector 16"/>
          <p:cNvCxnSpPr/>
          <p:nvPr/>
        </p:nvCxnSpPr>
        <p:spPr>
          <a:xfrm rot="5228255">
            <a:off x="5969000" y="28513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66CC">
                <a:alpha val="8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17" name="AutoShape 17"/>
          <p:cNvSpPr/>
          <p:nvPr/>
        </p:nvSpPr>
        <p:spPr>
          <a:xfrm>
            <a:off x="762000" y="3048000"/>
            <a:ext cx="10668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16000" y="3175000"/>
            <a:ext cx="10033000" cy="698500"/>
          </a:xfrm>
          <a:prstGeom prst="roundRect">
            <a:avLst>
              <a:gd name="adj" fmla="val 0"/>
            </a:avLst>
          </a:prstGeom>
          <a:solidFill>
            <a:srgbClr val="0066CC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3000" y="3276600"/>
            <a:ext cx="457200" cy="4572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778000" y="32131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核心调度：Supervisor (意图识别)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采用“关键词快速分类 + LLM兜底”策略，精准解析用户意图，动态路由至最优执行Agent，确保响应效率与准确性。</a:t>
            </a:r>
          </a:p>
        </p:txBody>
      </p:sp>
      <p:cxnSp>
        <p:nvCxnSpPr>
          <p:cNvPr id="21" name="Connector 21"/>
          <p:cNvCxnSpPr/>
          <p:nvPr/>
        </p:nvCxnSpPr>
        <p:spPr>
          <a:xfrm rot="-4351">
            <a:off x="1016004" y="3994150"/>
            <a:ext cx="1003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1016000" y="4064000"/>
            <a:ext cx="32385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3000" y="41910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651000" y="4127500"/>
            <a:ext cx="247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DiagnosisAgent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负责业务逻辑分析与故障诊断，结合知识库生成解决方案，处理复杂推理任务。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4508500" y="4064000"/>
            <a:ext cx="32385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635500" y="4191000"/>
            <a:ext cx="355600" cy="355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5143500" y="4127500"/>
            <a:ext cx="247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DataAgent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专注于数据查询、清洗与聚合，对接底层多源异构数据，为上层提供标准化数据支持。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8001000" y="4064000"/>
            <a:ext cx="32385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28000" y="4191000"/>
            <a:ext cx="355600" cy="3556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36000" y="4127500"/>
            <a:ext cx="247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MonitorAgent</a:t>
            </a:r>
            <a:r>
              <a:rPr lang="en-US" sz="1200" b="0" i="0" u="none" strike="noStrike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(零LLM延迟)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实时监控系统状态与Agent运行健康度，纯规则驱动，实现毫秒级异常感知与告警。</a:t>
            </a:r>
          </a:p>
        </p:txBody>
      </p:sp>
      <p:cxnSp>
        <p:nvCxnSpPr>
          <p:cNvPr id="31" name="Connector 31"/>
          <p:cNvCxnSpPr/>
          <p:nvPr/>
        </p:nvCxnSpPr>
        <p:spPr>
          <a:xfrm rot="5171155">
            <a:off x="6000750" y="5359611"/>
            <a:ext cx="190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66CC">
                <a:alpha val="8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32" name="AutoShape 32"/>
          <p:cNvSpPr/>
          <p:nvPr/>
        </p:nvSpPr>
        <p:spPr>
          <a:xfrm>
            <a:off x="762000" y="5461000"/>
            <a:ext cx="7112000" cy="1143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889000" y="5588000"/>
            <a:ext cx="12446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2500" y="56896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889000" y="6032500"/>
            <a:ext cx="124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ClickHouse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2260600" y="5588000"/>
            <a:ext cx="12446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324100" y="5689600"/>
            <a:ext cx="304800" cy="3048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2260600" y="6032500"/>
            <a:ext cx="124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Redis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3632200" y="5588000"/>
            <a:ext cx="12446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95700" y="5689600"/>
            <a:ext cx="304800" cy="304800"/>
          </a:xfrm>
          <a:prstGeom prst="rect">
            <a:avLst/>
          </a:prstGeom>
        </p:spPr>
      </p:pic>
      <p:sp>
        <p:nvSpPr>
          <p:cNvPr id="41" name="AutoShape 41"/>
          <p:cNvSpPr/>
          <p:nvPr/>
        </p:nvSpPr>
        <p:spPr>
          <a:xfrm>
            <a:off x="3632200" y="6032500"/>
            <a:ext cx="124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Kafka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5003800" y="5588000"/>
            <a:ext cx="12446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3" name="Picture 43"/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067300" y="5689600"/>
            <a:ext cx="304800" cy="304800"/>
          </a:xfrm>
          <a:prstGeom prst="rect">
            <a:avLst/>
          </a:prstGeom>
        </p:spPr>
      </p:pic>
      <p:sp>
        <p:nvSpPr>
          <p:cNvPr id="44" name="AutoShape 44"/>
          <p:cNvSpPr/>
          <p:nvPr/>
        </p:nvSpPr>
        <p:spPr>
          <a:xfrm>
            <a:off x="5003800" y="6032500"/>
            <a:ext cx="124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ChromaDB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6375400" y="5588000"/>
            <a:ext cx="12446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6" name="Picture 46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38900" y="5689600"/>
            <a:ext cx="304800" cy="304800"/>
          </a:xfrm>
          <a:prstGeom prst="rect">
            <a:avLst/>
          </a:prstGeom>
        </p:spPr>
      </p:pic>
      <p:sp>
        <p:nvSpPr>
          <p:cNvPr id="47" name="AutoShape 47"/>
          <p:cNvSpPr/>
          <p:nvPr/>
        </p:nvSpPr>
        <p:spPr>
          <a:xfrm>
            <a:off x="6375400" y="6032500"/>
            <a:ext cx="124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Ollama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8128000" y="5461000"/>
            <a:ext cx="3302000" cy="1143000"/>
          </a:xfrm>
          <a:prstGeom prst="roundRect">
            <a:avLst>
              <a:gd name="adj" fmla="val 0"/>
            </a:avLst>
          </a:prstGeom>
          <a:solidFill>
            <a:srgbClr val="10B981">
              <a:alpha val="15000"/>
            </a:srgbClr>
          </a:solidFill>
          <a:ln w="12700" cap="flat" cmpd="sng">
            <a:solidFill>
              <a:srgbClr val="10B981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9" name="Picture 49"/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8255000" y="5588000"/>
            <a:ext cx="355600" cy="355600"/>
          </a:xfrm>
          <a:prstGeom prst="rect">
            <a:avLst/>
          </a:prstGeom>
        </p:spPr>
      </p:pic>
      <p:sp>
        <p:nvSpPr>
          <p:cNvPr id="50" name="AutoShape 50"/>
          <p:cNvSpPr/>
          <p:nvPr/>
        </p:nvSpPr>
        <p:spPr>
          <a:xfrm>
            <a:off x="8763000" y="5562600"/>
            <a:ext cx="2540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智能自愈机制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Validator → ErrorHandler → Fallback，实现异常自动重试与降级路由，保障系统高可用性。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04 多智能体协作架构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89000" y="1651000"/>
            <a:ext cx="317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Supervisor · 总调度核心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3750">
            <a:off x="8890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8890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负责意图分类与任务分发，采用“关键词匹配+LLM兜底”策略。作为架构中唯一直接调用LLM的节点，确保大模型能力的集约使用。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381500" y="152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508500" y="1651000"/>
            <a:ext cx="317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DiagnosisAgent · 智能诊断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3750">
            <a:off x="45085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45085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专注于异常检测与错误码分析，利用RAG技术增强知识库检索能力，快速定位系统潜在问题，为故障排查提供精准依据。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001000" y="1524000"/>
            <a:ext cx="3429000" cy="1651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17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DataAgent · 数据处理中枢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3750">
            <a:off x="8128013" y="2025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8128000" y="2159000"/>
            <a:ext cx="3175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承担日志清洗、特征提取与模型训练工作。基于数据水位自动触发模型微调与更新，持续优化系统对新场景的适应能力。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3556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89000" y="3683000"/>
            <a:ext cx="3175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MonitorAgent · 极速监控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3750">
            <a:off x="889013" y="4057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89000" y="419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负责系统核心指标与状态的实时查询。采用纯Python开发，完全规避LLM调用开销，实现毫秒级的零延迟响应。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381500" y="3556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4508500" y="3683000"/>
            <a:ext cx="3175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OpsAgent · 安全运维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3750">
            <a:off x="4508513" y="4057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508500" y="419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处理服务启停、配置变更等高危操作。内置严格的二次确认与权限校验机制，确保每一步运维动作的安全性与可追溯性。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001000" y="3556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8128000" y="3683000"/>
            <a:ext cx="3175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GeneralAgent · 通用助理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13750">
            <a:off x="8128013" y="4057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8128000" y="4191000"/>
            <a:ext cx="317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承接时间计算、自然语言闲聊等轻量级任务。部署本地轻量级模型，在保护隐私的同时，提供灵活、低门槛的交互能力。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-4092">
            <a:off x="762004" y="5391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62000" y="5588000"/>
            <a:ext cx="1841500" cy="889000"/>
          </a:xfrm>
          <a:prstGeom prst="roundRect">
            <a:avLst>
              <a:gd name="adj" fmla="val 0"/>
            </a:avLst>
          </a:prstGeom>
          <a:solidFill>
            <a:srgbClr val="1E3A8A">
              <a:alpha val="70000"/>
            </a:srgbClr>
          </a:solidFill>
          <a:ln w="12700" cap="flat" cmpd="sng">
            <a:solidFill>
              <a:srgbClr val="3B82F6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825500" y="5689600"/>
            <a:ext cx="17145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执行异常捕获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Agent执行任务失败，系统自动拦截并上报错误信息。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2794000" y="5588000"/>
            <a:ext cx="1841500" cy="889000"/>
          </a:xfrm>
          <a:prstGeom prst="roundRect">
            <a:avLst>
              <a:gd name="adj" fmla="val 0"/>
            </a:avLst>
          </a:prstGeom>
          <a:solidFill>
            <a:srgbClr val="1E3A8A">
              <a:alpha val="70000"/>
            </a:srgbClr>
          </a:solidFill>
          <a:ln w="12700" cap="flat" cmpd="sng">
            <a:solidFill>
              <a:srgbClr val="3B82F6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2857500" y="5689600"/>
            <a:ext cx="17145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Validator 检测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校验错误类型与上下文，判定是否可恢复及重试策略。</a:t>
            </a:r>
          </a:p>
        </p:txBody>
      </p:sp>
      <p:sp>
        <p:nvSpPr>
          <p:cNvPr id="33" name="AutoShape 33"/>
          <p:cNvSpPr/>
          <p:nvPr/>
        </p:nvSpPr>
        <p:spPr>
          <a:xfrm>
            <a:off x="4826000" y="5588000"/>
            <a:ext cx="1841500" cy="889000"/>
          </a:xfrm>
          <a:prstGeom prst="roundRect">
            <a:avLst>
              <a:gd name="adj" fmla="val 0"/>
            </a:avLst>
          </a:prstGeom>
          <a:solidFill>
            <a:srgbClr val="1E3A8A">
              <a:alpha val="70000"/>
            </a:srgbClr>
          </a:solidFill>
          <a:ln w="12700" cap="flat" cmpd="sng">
            <a:solidFill>
              <a:srgbClr val="3B82F6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4889500" y="5689600"/>
            <a:ext cx="17145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重试与数据补充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自动重试最多3次，必要时路由DataAgent补充关键数据。</a:t>
            </a:r>
          </a:p>
        </p:txBody>
      </p:sp>
      <p:sp>
        <p:nvSpPr>
          <p:cNvPr id="35" name="AutoShape 35"/>
          <p:cNvSpPr/>
          <p:nvPr/>
        </p:nvSpPr>
        <p:spPr>
          <a:xfrm>
            <a:off x="6858000" y="5588000"/>
            <a:ext cx="1841500" cy="889000"/>
          </a:xfrm>
          <a:prstGeom prst="roundRect">
            <a:avLst>
              <a:gd name="adj" fmla="val 0"/>
            </a:avLst>
          </a:prstGeom>
          <a:solidFill>
            <a:srgbClr val="1E3A8A">
              <a:alpha val="70000"/>
            </a:srgbClr>
          </a:solidFill>
          <a:ln w="12700" cap="flat" cmpd="sng">
            <a:solidFill>
              <a:srgbClr val="3B82F6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6921500" y="5689600"/>
            <a:ext cx="17145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恢复执行/降级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数据完备后恢复任务；若仍失败则平滑降级至Fallback。</a:t>
            </a:r>
          </a:p>
        </p:txBody>
      </p:sp>
      <p:sp>
        <p:nvSpPr>
          <p:cNvPr id="37" name="AutoShape 37"/>
          <p:cNvSpPr/>
          <p:nvPr/>
        </p:nvSpPr>
        <p:spPr>
          <a:xfrm>
            <a:off x="8890000" y="5588000"/>
            <a:ext cx="2540000" cy="889000"/>
          </a:xfrm>
          <a:prstGeom prst="roundRect">
            <a:avLst>
              <a:gd name="adj" fmla="val 0"/>
            </a:avLst>
          </a:prstGeom>
          <a:solidFill>
            <a:srgbClr val="10B981">
              <a:alpha val="15000"/>
            </a:srgbClr>
          </a:solidFill>
          <a:ln w="12700" cap="flat" cmpd="sng">
            <a:solidFill>
              <a:srgbClr val="10B981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8953500" y="5689600"/>
            <a:ext cx="24130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4D399"/>
                </a:solidFill>
                <a:latin typeface="Noto Sans SC"/>
                <a:ea typeface="Noto Sans SC"/>
                <a:cs typeface="Noto Sans SC"/>
                <a:sym typeface="Noto Sans SC"/>
              </a:rPr>
              <a:t>系统鲁棒性保障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全链路故障自愈，确保核心业务不中断，提升系统稳定性。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05 技术亮点①：混合模型调度策略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2032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968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96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轻量任务 · 本地部署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4946">
            <a:off x="1016014" y="2533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2667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适用于简单对话、数学计算。采用 Ollama Qwen3:8B 本地模型，完全脱离网络依赖，实现</a:t>
            </a:r>
            <a:r>
              <a:rPr lang="en-US" sz="13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零网络延迟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的极速响应。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81500" y="1778000"/>
            <a:ext cx="3429000" cy="2032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1968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143500" y="196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实时任务 · 原生脚本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946">
            <a:off x="4635514" y="2533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635500" y="2667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针对实时监控、数据查询场景，直接调用</a:t>
            </a:r>
            <a:r>
              <a:rPr lang="en-US" sz="13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纯Python脚本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绕过LLM，规避模型推理开销，达成毫秒级的极致实时性。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01000" y="1778000"/>
            <a:ext cx="3429000" cy="2032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1968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763000" y="196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复杂任务 · 云端大模型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4946">
            <a:off x="8255014" y="2533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255000" y="2667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面对根因诊断、RAG深度检索等复杂需求，自动调度云端 Qwen-Max-Plus 模型，利用大模型能力实现深度逻辑推理与知识整合。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4092">
            <a:off x="762004" y="4311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762000" y="4572000"/>
            <a:ext cx="5270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16000" y="4762500"/>
            <a:ext cx="355600" cy="355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524000" y="4724400"/>
            <a:ext cx="425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智能实现机制：Registry 驱动的动态编排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9167">
            <a:off x="1016008" y="5264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1016000" y="5397500"/>
            <a:ext cx="476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构建 ModelRegistry 模型注册表，按需构建实例并智能缓存；前端通过结构化事件 [MODEL_SWITCH:xxx] 实时同步，实现“无感切换”的调度体验。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4572000"/>
            <a:ext cx="50165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67500" y="4762500"/>
            <a:ext cx="355600" cy="355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75500" y="4724400"/>
            <a:ext cx="400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动态决策流：任务难度 → 最优模型匹配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-9683">
            <a:off x="6667509" y="5264150"/>
            <a:ext cx="4508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6667500" y="5397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系统自动识别任务复杂度，构建“本地轻量→原生脚本→云端大模型”的阶梯式调用链，在保证效果的同时最大化资源利用率与响应速度。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06 技术亮点②：RAG检索增强生成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207000" cy="1206500"/>
          </a:xfrm>
          <a:prstGeom prst="roundRect">
            <a:avLst>
              <a:gd name="adj" fmla="val 0"/>
            </a:avLst>
          </a:prstGeom>
          <a:solidFill>
            <a:srgbClr val="0066CC">
              <a:alpha val="1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17145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676400"/>
            <a:ext cx="431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核心痛点：填补大模型领域知识空白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通用大模型未内置HDFS私有错误码(E1-E29)语义，无法精准理解分布式存储故障语境，需通过RAG技术注入垂直领域知识库。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762000" y="3048000"/>
            <a:ext cx="5207000" cy="2476500"/>
          </a:xfrm>
          <a:prstGeom prst="roundRect">
            <a:avLst>
              <a:gd name="adj" fmla="val 0"/>
            </a:avLst>
          </a:prstGeom>
          <a:solidFill>
            <a:srgbClr val="0066CC">
              <a:alpha val="1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31750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技术实现全链路流程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9167">
            <a:off x="952508" y="36766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952500" y="3937000"/>
            <a:ext cx="1117600" cy="1079500"/>
          </a:xfrm>
          <a:prstGeom prst="roundRect">
            <a:avLst>
              <a:gd name="adj" fmla="val 0"/>
            </a:avLst>
          </a:prstGeom>
          <a:solidFill>
            <a:srgbClr val="0066C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6500" y="406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990600" y="4572000"/>
            <a:ext cx="1041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文档采集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2222500" y="3937000"/>
            <a:ext cx="1117600" cy="1079500"/>
          </a:xfrm>
          <a:prstGeom prst="roundRect">
            <a:avLst>
              <a:gd name="adj" fmla="val 0"/>
            </a:avLst>
          </a:prstGeom>
          <a:solidFill>
            <a:srgbClr val="0066C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76500" y="4064000"/>
            <a:ext cx="355600" cy="355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2260600" y="4572000"/>
            <a:ext cx="1041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BGE-M3向量化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3429000" y="3937000"/>
            <a:ext cx="1117600" cy="1079500"/>
          </a:xfrm>
          <a:prstGeom prst="roundRect">
            <a:avLst>
              <a:gd name="adj" fmla="val 0"/>
            </a:avLst>
          </a:prstGeom>
          <a:solidFill>
            <a:srgbClr val="0066C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683000" y="40640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3467100" y="4572000"/>
            <a:ext cx="1041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ChromaDB存储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35500" y="3937000"/>
            <a:ext cx="1117600" cy="1079500"/>
          </a:xfrm>
          <a:prstGeom prst="roundRect">
            <a:avLst>
              <a:gd name="adj" fmla="val 0"/>
            </a:avLst>
          </a:prstGeom>
          <a:solidFill>
            <a:srgbClr val="0066CC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889500" y="4064000"/>
            <a:ext cx="355600" cy="3556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4673600" y="4572000"/>
            <a:ext cx="1041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Agent检索增强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50000" y="1524000"/>
            <a:ext cx="4953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40500" y="171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7112000" y="1651000"/>
            <a:ext cx="4000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高效去重：MD5哈希校验机制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在文档入库前计算内容MD5值，建立指纹索引，自动过滤重复的HDFS错误码说明文档，确保知识库数据的唯一性，降低存储冗余与检索噪音。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6350000" y="3175000"/>
            <a:ext cx="4953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40500" y="3365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3302000"/>
            <a:ext cx="4000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高可用兜底：混合检索降级策略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当向量检索服务异常或召回结果为空时，系统自动降级为本地文件的关键词全文检索，确保Agent始终能获取基础的错误码解释，保障服务稳定性。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6350000" y="4826000"/>
            <a:ext cx="4953000" cy="1397000"/>
          </a:xfrm>
          <a:prstGeom prst="roundRect">
            <a:avLst>
              <a:gd name="adj" fmla="val 0"/>
            </a:avLst>
          </a:prstGeom>
          <a:solidFill>
            <a:srgbClr val="0066CC">
              <a:alpha val="1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40500" y="5016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7112000" y="4953000"/>
            <a:ext cx="4000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多维知识库：构建完整故障知识图谱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覆盖HDFS E1-E29全量错误码定义、常见运维FAQ问答集，以及一线工程师沉淀的故障排查SOP指南，形成“定义-问题-方案”的闭环知识体系。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07 技术亮点③：实时监控流水线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▌ 核心流程：四进程协同闭环处理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286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20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2476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24765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日志切分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20834">
            <a:off x="952519" y="3041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952500" y="31750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 split_log.py 对原始日志进行流式切分与清洗，提取关键特征字段，为后续处理提供标准化输入。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492500" y="2286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20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3000" y="24765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127500" y="24765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文件监听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20834">
            <a:off x="3683019" y="3041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3683000" y="31750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利用 watch_folder.py 实时监测日志目录变化，捕捉新增文件并自动触发后续的特征提取与预测流程。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2286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20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3500" y="2476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858000" y="24765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MLP 实时预测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20834">
            <a:off x="6413519" y="3041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413500" y="31750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predictor.py 加载预训练的MLP模型，对清洗后的特征进行毫秒级推理，输出实时状态评分与异常预警。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953500" y="2286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20000"/>
            </a:srgbClr>
          </a:solidFill>
          <a:ln w="127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44000" y="2476500"/>
            <a:ext cx="355600" cy="355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588500" y="24765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Redis 状态同步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20834">
            <a:off x="9144019" y="3041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9144000" y="31750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redis_sync.py 将预测结果与设备状态实时同步至Redis缓存，确保下游服务能快速获取最新的监控数据。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4092">
            <a:off x="762004" y="4565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762000" y="4889500"/>
            <a:ext cx="52705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2500" y="50800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1524000" y="5080000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双数据源分层查询架构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8929">
            <a:off x="952508" y="56451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952500" y="57404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Redis热数据：</a:t>
            </a:r>
            <a:r>
              <a:rPr lang="en-US" sz="12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高频访问数据优先读取，实现毫秒级极速响应。</a:t>
            </a:r>
            <a:endParaRPr lang="en-US" sz="1100"/>
          </a:p>
        </p:txBody>
      </p:sp>
      <p:cxnSp>
        <p:nvCxnSpPr>
          <p:cNvPr id="31" name="Connector 31"/>
          <p:cNvCxnSpPr/>
          <p:nvPr/>
        </p:nvCxnSpPr>
        <p:spPr>
          <a:xfrm rot="5285450">
            <a:off x="3238500" y="5962756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AutoShape 32"/>
          <p:cNvSpPr/>
          <p:nvPr/>
        </p:nvSpPr>
        <p:spPr>
          <a:xfrm>
            <a:off x="3556000" y="57404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ClickHouse冷数据：</a:t>
            </a:r>
            <a:r>
              <a:rPr lang="en-US" sz="12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海量历史数据归档存储，提供完整的回溯查询能力。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223000" y="4889500"/>
            <a:ext cx="52705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3500" y="5080000"/>
            <a:ext cx="406400" cy="4064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6985000" y="5080000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Agent 化服务一键管控</a:t>
            </a:r>
            <a:endParaRPr lang="en-US" sz="1100"/>
          </a:p>
        </p:txBody>
      </p:sp>
      <p:cxnSp>
        <p:nvCxnSpPr>
          <p:cNvPr id="36" name="Connector 36"/>
          <p:cNvCxnSpPr/>
          <p:nvPr/>
        </p:nvCxnSpPr>
        <p:spPr>
          <a:xfrm rot="-8929">
            <a:off x="6413508" y="56451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37"/>
          <p:cNvSpPr/>
          <p:nvPr/>
        </p:nvSpPr>
        <p:spPr>
          <a:xfrm>
            <a:off x="6413500" y="57404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启动命令：</a:t>
            </a:r>
            <a:r>
              <a:rPr lang="en-US" sz="12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执行 start_realtime_service 快速拉起全链路监控服务。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285450">
            <a:off x="8699500" y="5962756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9017000" y="57404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停止命令：</a:t>
            </a:r>
            <a:r>
              <a:rPr lang="en-US" sz="12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调用 stop_realtime_service 优雅释放资源，安全关停。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08 技术亮点④：离线+在线双模式异常检测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270500" cy="2159000"/>
          </a:xfrm>
          <a:prstGeom prst="roundRect">
            <a:avLst>
              <a:gd name="adj" fmla="val 0"/>
            </a:avLst>
          </a:prstGeom>
          <a:solidFill>
            <a:srgbClr val="0042CC">
              <a:alpha val="15000"/>
            </a:srgbClr>
          </a:solidFill>
          <a:ln w="12700" cap="flat" cmpd="sng">
            <a:solidFill>
              <a:srgbClr val="0042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968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87500" y="1968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离线模式：批量历史回溯分析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167">
            <a:off x="1016008" y="2597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2794000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流程：CSV 数据上传 → Kafka 消息队列缓冲 → ClickHouse 存储计算 → MLP 模型预测 → 结果持久化入库。适用于对历史积压数据进行批量诊断与模型迭代验证。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159500" y="1778000"/>
            <a:ext cx="5270500" cy="2159000"/>
          </a:xfrm>
          <a:prstGeom prst="roundRect">
            <a:avLst>
              <a:gd name="adj" fmla="val 0"/>
            </a:avLst>
          </a:prstGeom>
          <a:solidFill>
            <a:srgbClr val="0042CC">
              <a:alpha val="15000"/>
            </a:srgbClr>
          </a:solidFill>
          <a:ln w="12700" cap="flat" cmpd="sng">
            <a:solidFill>
              <a:srgbClr val="0042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13500" y="1968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6985000" y="1968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在线模式：实时流式监控预警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9167">
            <a:off x="6413508" y="2597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6413500" y="2794000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流程：日志实时切分采集 → 目录文件增量监听 → MLP 模型实时推理 → Redis 高速缓存结果。实现秒级异常响应，保障系统运行状态的即时可视与告警。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4445000"/>
            <a:ext cx="34671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4635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397000" y="45974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核心模型：MLP 感知机结构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4147">
            <a:off x="952513" y="5073650"/>
            <a:ext cx="3086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42CC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952500" y="5207000"/>
            <a:ext cx="30861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 29→128→32→1 的全连接层级，输出层使用 Sigmoid 激活函数，精准拟合非线性的异常分布特征。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94200" y="4445000"/>
            <a:ext cx="34671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84700" y="46355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029200" y="45974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样本优化：加权损失函数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4147">
            <a:off x="4584713" y="5073650"/>
            <a:ext cx="3086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42CC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584700" y="5207000"/>
            <a:ext cx="30861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针对正负样本失衡，使用 BCEWithLogitsLoss 并配置 pos_weight 参数，赋予正样本更高权重，提升召回率。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026400" y="4445000"/>
            <a:ext cx="34671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16900" y="4635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8661400" y="4597400"/>
            <a:ext cx="266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保障机制：多级数据降级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14147">
            <a:off x="8216913" y="5073650"/>
            <a:ext cx="3086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42CC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8216900" y="5207000"/>
            <a:ext cx="30861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建立官方矩阵 → 训练集数据 → 合并特征 → 本地解析的四级降级链路，确保极端网络环境下数据链路不中断。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09 技术亮点⑤：安全运维机制（Human-in-the-loop）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6350000" cy="762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16764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87500" y="1587500"/>
            <a:ext cx="533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核心设计思想：</a:t>
            </a: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系统的自动化并非绝对，对于清理数据、删除批次等高危操作，必须引入“人工决策”作为最终安全屏障。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667000"/>
            <a:ext cx="6350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2768600"/>
            <a:ext cx="596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A0FF"/>
                </a:solidFill>
                <a:latin typeface="Noto Sans SC"/>
                <a:ea typeface="Noto Sans SC"/>
                <a:cs typeface="Noto Sans SC"/>
                <a:sym typeface="Noto Sans SC"/>
              </a:rPr>
              <a:t>OpsAgent 高危操作二次确认规则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7314">
            <a:off x="952507" y="3168650"/>
            <a:ext cx="596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952500" y="3365500"/>
            <a:ext cx="2730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常规查询/查看配置：</a:t>
            </a:r>
            <a:r>
              <a:rPr lang="en-US" sz="1400" b="0" i="0" u="none" strike="noStrike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无需人工干预，自动执行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5347115">
            <a:off x="3460750" y="3771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4000500" y="3365500"/>
            <a:ext cx="2984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数据清理/服务重启/批次删除：</a:t>
            </a:r>
            <a:r>
              <a:rPr lang="en-US" sz="1400" b="1" i="0" u="none" strike="noStrike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强制触发人工Confirm流程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4699000"/>
            <a:ext cx="6350000" cy="1651000"/>
          </a:xfrm>
          <a:prstGeom prst="roundRect">
            <a:avLst>
              <a:gd name="adj" fmla="val 0"/>
            </a:avLst>
          </a:prstGeom>
          <a:solidFill>
            <a:srgbClr val="0066CC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952500" y="4800600"/>
            <a:ext cx="596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A0FF"/>
                </a:solidFill>
                <a:latin typeface="Noto Sans SC"/>
                <a:ea typeface="Noto Sans SC"/>
                <a:cs typeface="Noto Sans SC"/>
                <a:sym typeface="Noto Sans SC"/>
              </a:rPr>
              <a:t>闭环执行流程可视化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7314">
            <a:off x="952507" y="5200650"/>
            <a:ext cx="596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952500" y="5397500"/>
            <a:ext cx="177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01. 挂起阻断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Supervisor识别高危请求，立即进入Interrupt状态，暂停执行。</a:t>
            </a:r>
          </a:p>
        </p:txBody>
      </p:sp>
      <p:cxnSp>
        <p:nvCxnSpPr>
          <p:cNvPr id="17" name="Connector 17"/>
          <p:cNvCxnSpPr/>
          <p:nvPr/>
        </p:nvCxnSpPr>
        <p:spPr>
          <a:xfrm rot="5331254">
            <a:off x="2540000" y="5772213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2984500" y="5397500"/>
            <a:ext cx="177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02. 人工介入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通过微信推送确认指令，用户回复“确认”或“取消”进行决策。</a:t>
            </a:r>
          </a:p>
        </p:txBody>
      </p:sp>
      <p:cxnSp>
        <p:nvCxnSpPr>
          <p:cNvPr id="19" name="Connector 19"/>
          <p:cNvCxnSpPr/>
          <p:nvPr/>
        </p:nvCxnSpPr>
        <p:spPr>
          <a:xfrm rot="5331254">
            <a:off x="4445000" y="5772213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4889500" y="5397500"/>
            <a:ext cx="2032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03. 断点续跑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验证通过后，系统恢复上下文，从断点处继续执行原定操作。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 l="2380" r="2380"/>
          <a:stretch>
            <a:fillRect/>
          </a:stretch>
        </p:blipFill>
        <p:spPr>
          <a:xfrm>
            <a:off x="7620000" y="1524000"/>
            <a:ext cx="3810000" cy="2667000"/>
          </a:xfrm>
          <a:prstGeom prst="rect">
            <a:avLst/>
          </a:prstGeom>
          <a:noFill/>
          <a:ln w="25400" cap="flat" cmpd="sng">
            <a:solidFill>
              <a:srgbClr val="0066CC">
                <a:alpha val="60000"/>
              </a:srgbClr>
            </a:solidFill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620000" y="4699000"/>
            <a:ext cx="3810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0500" y="48514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8382000" y="4826000"/>
            <a:ext cx="285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关键保障：会话严格隔离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12732">
            <a:off x="7810512" y="53911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7810500" y="55245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确认请求通过独立的微信/OpenClaw接口会话进行，与主执行环境物理隔离，彻底避免操作上下文被意外污染。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428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10 技术栈总览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 l="22500" r="22499"/>
          <a:stretch>
            <a:fillRect/>
          </a:stretch>
        </p:blipFill>
        <p:spPr>
          <a:xfrm>
            <a:off x="952500" y="18415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2032000" y="1841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前端交互层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4323">
            <a:off x="9525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52500" y="2984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 Vue.js 3 全家桶，结合 Element Plus 构建响应式界面，Vite 实现极速构建，ECharts 提供数据可视化支持。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81500" y="1651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72000" y="18415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/>
        </p:nvSpPr>
        <p:spPr>
          <a:xfrm>
            <a:off x="5651500" y="1841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后端服务层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323">
            <a:off x="45720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572000" y="2984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 FastAPI 搭建高性能异步接口，利用 Uvicorn 部署，结合 SSE 技术实现服务器端实时事件推送。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01000" y="1651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 l="22035" r="22035"/>
          <a:stretch>
            <a:fillRect/>
          </a:stretch>
        </p:blipFill>
        <p:spPr>
          <a:xfrm>
            <a:off x="8191500" y="18415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71000" y="1841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AI 编排层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4323">
            <a:off x="8191513" y="285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191500" y="2984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使用 LangChain 处理提示词工程，LangGraph 构建多智能体协作流程，灵活编排复杂的 AI 业务逻辑。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064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rcRect l="16666" r="16666"/>
          <a:stretch>
            <a:fillRect/>
          </a:stretch>
        </p:blipFill>
        <p:spPr>
          <a:xfrm>
            <a:off x="952500" y="42545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2032000" y="4254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模型部署层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4323">
            <a:off x="952513" y="5264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952500" y="539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 Ollama 实现大模型本地私有化部署，同时集成阿里 DashScope 云端 API，兼顾灵活性与计算效率。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381500" y="4064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 l="41336" r="41336"/>
          <a:stretch>
            <a:fillRect/>
          </a:stretch>
        </p:blipFill>
        <p:spPr>
          <a:xfrm>
            <a:off x="4572000" y="42545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5651500" y="4254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数据存储层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14323">
            <a:off x="4572013" y="5264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4572000" y="539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ChromaDB 作为向量数据库存储嵌入特征，ClickHouse 处理海量时序数据，配合 bge-m3 模型实现高效检索。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001000" y="40640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91500" y="4254500"/>
            <a:ext cx="889000" cy="8890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9271000" y="4254500"/>
            <a:ext cx="203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96FF"/>
                </a:solidFill>
                <a:latin typeface="Noto Sans SC"/>
                <a:ea typeface="Noto Sans SC"/>
                <a:cs typeface="Noto Sans SC"/>
                <a:sym typeface="Noto Sans SC"/>
              </a:rPr>
              <a:t>基础支撑层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14323">
            <a:off x="8191513" y="5264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8191500" y="539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Redis 处理高速缓存，Kafka 保障高吞吐消息队列，结合 PyTorch 与 scikit-learn 完成异常检测与模型训练。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11 功能演示：Dashboard大屏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778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系统总 Block 处理量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4946">
            <a:off x="952514" y="2216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3495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99FF"/>
                </a:solidFill>
                <a:latin typeface="Noto Sans SC"/>
                <a:ea typeface="Noto Sans SC"/>
                <a:cs typeface="Noto Sans SC"/>
                <a:sym typeface="Noto Sans SC"/>
              </a:rPr>
              <a:t>1,234,567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F4D4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635500" y="1778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当前监测异常 Block 数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4946">
            <a:off x="4635514" y="2216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4D4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4635500" y="23495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4D4F"/>
                </a:solidFill>
                <a:latin typeface="Noto Sans SC"/>
                <a:ea typeface="Noto Sans SC"/>
                <a:cs typeface="Noto Sans SC"/>
                <a:sym typeface="Noto Sans SC"/>
              </a:rPr>
              <a:t>128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52C41A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318500" y="1778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核心集群服务健康率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4946">
            <a:off x="8318514" y="2216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52C41A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8318500" y="23495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52C41A"/>
                </a:solidFill>
                <a:latin typeface="Noto Sans SC"/>
                <a:ea typeface="Noto Sans SC"/>
                <a:cs typeface="Noto Sans SC"/>
                <a:sym typeface="Noto Sans SC"/>
              </a:rPr>
              <a:t>99.99%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556000"/>
            <a:ext cx="5334000" cy="2413000"/>
          </a:xfrm>
          <a:prstGeom prst="rect">
            <a:avLst/>
          </a:prstGeom>
          <a:ln w="12700">
            <a:noFill/>
            <a:prstDash val="solid"/>
          </a:ln>
        </p:spPr>
      </p:pic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6477000" y="3556000"/>
          <a:ext cx="4826000" cy="2222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发生时间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Block ID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异常类型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当前状态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CC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10:24:11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B-9821-X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C10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连接超时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4D4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未恢复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10:15:30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B-7402-Z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C10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数据校验失败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C41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已自愈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10:08:45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FFFF">
                              <a:alpha val="85098"/>
                            </a:srgbClr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B-1055-L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C10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资源占用过高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FF4D4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处理中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AutoShape 18"/>
          <p:cNvSpPr/>
          <p:nvPr/>
        </p:nvSpPr>
        <p:spPr>
          <a:xfrm>
            <a:off x="762000" y="6223000"/>
            <a:ext cx="10668000" cy="381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89000" y="6286500"/>
            <a:ext cx="1041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Dashboard 实时大屏支持秒级数据刷新，异常事件自动聚合归类，为运维决策提供全方位数据支撑。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12 功能演示：AI对话诊断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032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用户自然语言提问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4946">
            <a:off x="1016014" y="2660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048000"/>
            <a:ext cx="2921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“你好，帮我诊断一下 block_12345 任务为什么执行失败了？从日志看好像是节点出了问题，但我不确定具体原因。”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5388145">
            <a:off x="2603500" y="3740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4699000" y="1778000"/>
            <a:ext cx="34290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2032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461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Agent 流式诊断分析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14946">
            <a:off x="4953014" y="2660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953000" y="29210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[检测结果]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block_12345 的 E5 事件连续触发 3 次，已达到系统异常阈值。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[根因分析]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RAG 检索显示，E5 错误关联 DataNode 节点通信超时，需优先排查节点状态。</a:t>
            </a:r>
          </a:p>
          <a:p>
            <a:pPr marL="0" indent="0" algn="l">
              <a:lnSpc>
                <a:spcPct val="116666"/>
              </a:lnSpc>
            </a:pPr>
            <a:r>
              <a:rPr lang="en-US" sz="13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[修复建议]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建议尝试重启 DataNode 服务，并同步检查底层网络链路稳定性。</a:t>
            </a:r>
          </a:p>
        </p:txBody>
      </p:sp>
      <p:cxnSp>
        <p:nvCxnSpPr>
          <p:cNvPr id="15" name="Connector 15"/>
          <p:cNvCxnSpPr/>
          <p:nvPr/>
        </p:nvCxnSpPr>
        <p:spPr>
          <a:xfrm rot="5388145">
            <a:off x="6540500" y="3740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8509000" y="1778000"/>
            <a:ext cx="34290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59E0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63000" y="20320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9271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高危操作二次确认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14946">
            <a:off x="8763014" y="2660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763000" y="3048000"/>
            <a:ext cx="2921000" cy="1270000"/>
          </a:xfrm>
          <a:prstGeom prst="roundRect">
            <a:avLst>
              <a:gd name="adj" fmla="val 0"/>
            </a:avLst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890000" y="3175000"/>
            <a:ext cx="266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CD34D"/>
                </a:solidFill>
                <a:latin typeface="Noto Sans SC"/>
                <a:ea typeface="Noto Sans SC"/>
                <a:cs typeface="Noto Sans SC"/>
                <a:sym typeface="Noto Sans SC"/>
              </a:rPr>
              <a:t>警告：</a:t>
            </a:r>
            <a:r>
              <a:rPr lang="en-US" sz="13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确认要执行“重启 DataNode 服务”吗？该操作属于高危行为，可能会影响当前运行中的业务数据同步。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763000" y="4699000"/>
            <a:ext cx="1333500" cy="508000"/>
          </a:xfrm>
          <a:prstGeom prst="roundRect">
            <a:avLst>
              <a:gd name="adj" fmla="val 0"/>
            </a:avLst>
          </a:prstGeom>
          <a:solidFill>
            <a:srgbClr val="DC2626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8763000" y="4699000"/>
            <a:ext cx="133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取消操作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10287000" y="4699000"/>
            <a:ext cx="1333500" cy="508000"/>
          </a:xfrm>
          <a:prstGeom prst="roundRect">
            <a:avLst>
              <a:gd name="adj" fmla="val 0"/>
            </a:avLst>
          </a:prstGeom>
          <a:solidFill>
            <a:srgbClr val="0066CC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287000" y="4699000"/>
            <a:ext cx="133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确认执行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62000" y="5842000"/>
            <a:ext cx="10922000" cy="698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952500" y="5905500"/>
            <a:ext cx="1054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核心价值：系统结合 RAG 知识库与实时监控数据，实现故障诊断的自然语言交互，同时对高危操作设置严格的确认机制，保障运维安全。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13 功能演示：实时监控效果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0A192F">
              <a:alpha val="7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8415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▍实时日志数据流 (Log Stream)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8929">
            <a:off x="952508" y="23431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540000"/>
            <a:ext cx="48895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DCDCDC">
                    <a:alpha val="90196"/>
                  </a:srgbClr>
                </a:solidFill>
                <a:latin typeface="Roboto Mono"/>
                <a:ea typeface="Roboto Mono"/>
                <a:cs typeface="Roboto Mono"/>
                <a:sym typeface="Roboto Mono"/>
              </a:rPr>
              <a:t>2026-06-06 12:00:00, block_12345, E1, Load: 0.85, Mem: 72% ...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DCDCDC">
                    <a:alpha val="90196"/>
                  </a:srgbClr>
                </a:solidFill>
                <a:latin typeface="Roboto Mono"/>
                <a:ea typeface="Roboto Mono"/>
                <a:cs typeface="Roboto Mono"/>
                <a:sym typeface="Roboto Mono"/>
              </a:rPr>
              <a:t>2026-06-06 12:00:01, block_12346, E0, Load: 0.42, Mem: 68% ...</a:t>
            </a:r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DCDCDC">
                    <a:alpha val="90196"/>
                  </a:srgbClr>
                </a:solidFill>
                <a:latin typeface="Roboto Mono"/>
                <a:ea typeface="Roboto Mono"/>
                <a:cs typeface="Roboto Mono"/>
                <a:sym typeface="Roboto Mono"/>
              </a:rPr>
              <a:t>2026-06-06 12:00:02, block_12347, E2, Load: 0.91, Mem: 88% ...</a:t>
            </a:r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FF6347">
                    <a:alpha val="94902"/>
                  </a:srgbClr>
                </a:solidFill>
                <a:latin typeface="Roboto Mono"/>
                <a:ea typeface="Roboto Mono"/>
                <a:cs typeface="Roboto Mono"/>
                <a:sym typeface="Roboto Mono"/>
              </a:rPr>
              <a:t>2026-06-06 12:00:03, block_12348, E1, Load: 1.25, Mem: 94% ... [ALERT]</a:t>
            </a:r>
          </a:p>
          <a:p>
            <a:pPr marL="0" indent="0" algn="l">
              <a:lnSpc>
                <a:spcPct val="116666"/>
              </a:lnSpc>
            </a:pPr>
            <a:r>
              <a:rPr lang="en-US" sz="1300" b="0" i="0" u="none" strike="noStrike">
                <a:solidFill>
                  <a:srgbClr val="DCDCDC">
                    <a:alpha val="90196"/>
                  </a:srgbClr>
                </a:solidFill>
                <a:latin typeface="Roboto Mono"/>
                <a:ea typeface="Roboto Mono"/>
                <a:cs typeface="Roboto Mono"/>
                <a:sym typeface="Roboto Mono"/>
              </a:rPr>
              <a:t>2026-06-06 12:00:04, block_12349, E0, Load: 0.38, Mem: 65% ...</a:t>
            </a:r>
          </a:p>
        </p:txBody>
      </p:sp>
      <p:sp>
        <p:nvSpPr>
          <p:cNvPr id="8" name="AutoShape 8"/>
          <p:cNvSpPr/>
          <p:nvPr/>
        </p:nvSpPr>
        <p:spPr>
          <a:xfrm>
            <a:off x="6286500" y="1651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0A192F">
              <a:alpha val="7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6477000" y="18415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66CC"/>
                </a:solidFill>
                <a:latin typeface="Noto Sans SC"/>
                <a:ea typeface="Noto Sans SC"/>
                <a:cs typeface="Noto Sans SC"/>
                <a:sym typeface="Noto Sans SC"/>
              </a:rPr>
              <a:t>▍MLP 模型实时推理 (Inference)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8929">
            <a:off x="6477008" y="23431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477000" y="2540000"/>
            <a:ext cx="48895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6604000" y="2603500"/>
            <a:ext cx="463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BlockID: block_12348 | Status:</a:t>
            </a:r>
            <a:r>
              <a:rPr lang="en-US" sz="1400" b="1" i="0" u="none" strike="noStrike">
                <a:solidFill>
                  <a:srgbClr val="FF5757"/>
                </a:solidFill>
                <a:latin typeface="Noto Sans SC"/>
                <a:ea typeface="Noto Sans SC"/>
                <a:cs typeface="Noto Sans SC"/>
                <a:sym typeface="Noto Sans SC"/>
              </a:rPr>
              <a:t>异常 (Anomaly)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8C8C8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置信度 Confidence: 0.98 | 触发策略: 自动隔离流程 v2.1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477000" y="3556000"/>
            <a:ext cx="48895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6604000" y="3619500"/>
            <a:ext cx="463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BlockID: block_12347 | Status:</a:t>
            </a:r>
            <a:r>
              <a:rPr lang="en-US" sz="1400" b="1" i="0" u="none" strike="noStrike">
                <a:solidFill>
                  <a:srgbClr val="FAAD14"/>
                </a:solidFill>
                <a:latin typeface="Noto Sans SC"/>
                <a:ea typeface="Noto Sans SC"/>
                <a:cs typeface="Noto Sans SC"/>
                <a:sym typeface="Noto Sans SC"/>
              </a:rPr>
              <a:t>预警 (Warning)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8C8C8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置信度 Confidence: 0.76 | 建议: 优先调度资源检查任务</a:t>
            </a:r>
          </a:p>
        </p:txBody>
      </p:sp>
      <p:sp>
        <p:nvSpPr>
          <p:cNvPr id="15" name="AutoShape 15"/>
          <p:cNvSpPr/>
          <p:nvPr/>
        </p:nvSpPr>
        <p:spPr>
          <a:xfrm>
            <a:off x="6477000" y="4635500"/>
            <a:ext cx="488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4BEC8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系统延迟: &lt; 10ms | 吞吐量: 12,500 events/sec | 模型版本: v3.4.1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588000"/>
            <a:ext cx="10795000" cy="889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5803900"/>
            <a:ext cx="457200" cy="457200"/>
          </a:xfrm>
          <a:prstGeom prst="rect">
            <a:avLst/>
          </a:prstGeom>
        </p:spPr>
      </p:pic>
      <p:cxnSp>
        <p:nvCxnSpPr>
          <p:cNvPr id="18" name="Connector 18"/>
          <p:cNvCxnSpPr/>
          <p:nvPr/>
        </p:nvCxnSpPr>
        <p:spPr>
          <a:xfrm rot="5314074">
            <a:off x="1524000" y="60262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032000" y="5715000"/>
            <a:ext cx="914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状态实时同步机制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异常数据已毫秒级同步至 Redis 缓存层，支持 Dashboard 前端实时拉取与其他监控 Agent 订阅查询。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14 创新点总结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17145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5357030">
            <a:off x="1270000" y="22796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968500" y="17526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多智能体协作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构建 Supervisor + 5子Agent + Validator + ErrorHandler 的完整协作链，实现任务的精细化分工与闭环管理。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762000" y="32385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16000" y="33020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5357030">
            <a:off x="1270000" y="38671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1968500" y="33401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混合模型调度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融合本地模型、云端大模型与零LLM策略，根据任务复杂度动态分配算力资源，兼顾响应速度与处理深度。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62000" y="4826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762000" y="4826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1016000" y="48895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5357030">
            <a:off x="1270000" y="54546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1968500" y="49276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零延迟监控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MonitorAgent 采用纯 Python 原生实现，完全绕过 LLM 处理流程，实现系统状态的毫秒级实时感知与反馈。</a:t>
            </a:r>
          </a:p>
        </p:txBody>
      </p:sp>
      <p:sp>
        <p:nvSpPr>
          <p:cNvPr id="19" name="AutoShape 19"/>
          <p:cNvSpPr/>
          <p:nvPr/>
        </p:nvSpPr>
        <p:spPr>
          <a:xfrm>
            <a:off x="6350000" y="1651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6350000" y="1651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604000" y="17145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5357030">
            <a:off x="6858000" y="22796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7556500" y="17526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自动纠错重试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建立错误检测机制，当任务执行异常时，自动路由至 DataAgent 补充缺失数据，实现流程的自我修复与重试。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6350000" y="32385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6350000" y="32385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604000" y="33020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5357030">
            <a:off x="6858000" y="38671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7556500" y="33401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RAG知识增强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 HDFS 领域专业知识向量化存储，Agent 可实时检索知识库信息，显著提升模型回答的准确性与专业性。</a:t>
            </a:r>
          </a:p>
        </p:txBody>
      </p:sp>
      <p:sp>
        <p:nvSpPr>
          <p:cNvPr id="29" name="AutoShape 29"/>
          <p:cNvSpPr/>
          <p:nvPr/>
        </p:nvSpPr>
        <p:spPr>
          <a:xfrm>
            <a:off x="6350000" y="4826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6350000" y="4826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604000" y="4889500"/>
            <a:ext cx="63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>
                    <a:alpha val="2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5357030">
            <a:off x="6858000" y="545469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7556500" y="4927600"/>
            <a:ext cx="3873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哑管道强端点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E6E6E6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OpenClaw 仅作为消息中继通道，所有业务智能逻辑与决策能力收敛到后端核心服务，保障系统架构的稳健可控。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15 未来展望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3429000" cy="1905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2222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184400"/>
            <a:ext cx="2476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多日志源全域接入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4323">
            <a:off x="952513" y="2787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52500" y="2921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全面整合YARN、HBase、Hive等Hadoop生态组件日志，实现大数据平台全链路数据采集，打破监控盲区，构建统一数据底座。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81500" y="2032000"/>
            <a:ext cx="3429000" cy="1905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2000" y="2222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143500" y="2184400"/>
            <a:ext cx="2476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ReAct推理链增强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323">
            <a:off x="4572013" y="2787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572000" y="2921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引入ReAct框架赋能Agent，强化多步推理与自主决策能力，精准拆解复杂异常问题，提升故障诊断的智能化与自动化水平。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01000" y="2032000"/>
            <a:ext cx="3429000" cy="1905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91500" y="2222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763000" y="2184400"/>
            <a:ext cx="2476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多端智能告警触达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4323">
            <a:off x="8191513" y="2787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191500" y="29210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集成邮件、钉钉、企业微信等多渠道推送机制，配置分级告警策略，确保关键异常信息即时、准确地触达运维与研发负责人。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318000"/>
            <a:ext cx="5270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2500" y="4508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24000" y="4470400"/>
            <a:ext cx="4254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在线增量学习模型进化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9046">
            <a:off x="952508" y="5073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952500" y="5207000"/>
            <a:ext cx="488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构建持续学习机制，实时吸收新的异常模式特征，无需全量重训即可快速适配业务场景变化，保障模型始终处于最优诊断状态。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4318000"/>
            <a:ext cx="52705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04000" y="4508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75500" y="4470400"/>
            <a:ext cx="4254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集群化高可用弹性架构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9046">
            <a:off x="6604008" y="5073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604000" y="5207000"/>
            <a:ext cx="488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E6E6E6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采用多节点分布式集群部署方案，实现服务高可用容灾与资源水平扩展，从容应对业务规模增长与海量日志处理需求。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2032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致谢 &amp; Q&amp;A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429000"/>
            <a:ext cx="49530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70000" y="3619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841500" y="3581400"/>
            <a:ext cx="393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诚挚致谢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822">
            <a:off x="1270009" y="41846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270000" y="43815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特别感谢指导老师的悉心教诲、课程平台的专业支持，以及LangChain、LangGraph、Qwen等开源社区提供的强大技术生态，让探索之路步履坚定。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223000" y="3429000"/>
            <a:ext cx="4953000" cy="1778000"/>
          </a:xfrm>
          <a:prstGeom prst="roundRect">
            <a:avLst>
              <a:gd name="adj" fmla="val 0"/>
            </a:avLst>
          </a:prstGeom>
          <a:solidFill>
            <a:srgbClr val="0066CC">
              <a:alpha val="15000"/>
            </a:srgbClr>
          </a:solidFill>
          <a:ln w="12700" cap="flat" cmpd="sng">
            <a:solidFill>
              <a:srgbClr val="0066CC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3619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048500" y="3581400"/>
            <a:ext cx="393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保持联系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9822">
            <a:off x="6477009" y="41846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6477000" y="4381500"/>
            <a:ext cx="444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GitHub: wweien1130-ui/AIOps-HDFS</a:t>
            </a:r>
            <a:b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Mobile: 15260655179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715000"/>
            <a:ext cx="10160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1016000" y="5715000"/>
            <a:ext cx="50800" cy="762000"/>
          </a:xfrm>
          <a:prstGeom prst="roundRect">
            <a:avLst>
              <a:gd name="adj" fmla="val 0"/>
            </a:avLst>
          </a:prstGeom>
          <a:solidFill>
            <a:srgbClr val="0066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1270000" y="5715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欢迎各位老师、同学批评指正，提出宝贵的问题与建议。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2063</Words>
  <Application>Microsoft Office PowerPoint</Application>
  <PresentationFormat>宽屏</PresentationFormat>
  <Paragraphs>291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Noto Sans SC</vt:lpstr>
      <vt:lpstr>Arial</vt:lpstr>
      <vt:lpstr>Roboto Mono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liang wenwei</cp:lastModifiedBy>
  <cp:revision>1</cp:revision>
  <dcterms:modified xsi:type="dcterms:W3CDTF">2026-06-06T12:25:02Z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{"Label":"1","ContentProducer":"001191110102MACQD9K64010000","ProduceID":"7648204943082360027","ReservedCode1":"","ContentPropagator":"","PropagateID":"","ReservedCode2":""}</vt:lpwstr>
  </property>
</Properties>
</file>